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2926080" cy="365760"/>
          </a:xfrm>
          <a:prstGeom prst="roundRect">
            <a:avLst/>
          </a:prstGeom>
          <a:solidFill>
            <a:srgbClr val="064E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CALDERA THERAPEUTICS · TEAM 2</a:t>
            </a:r>
          </a:p>
        </p:txBody>
      </p:sp>
      <p:sp>
        <p:nvSpPr>
          <p:cNvPr id="4" name="TextBox 3"/>
          <p:cNvSpPr txBox="1"/>
          <p:nvPr/>
        </p:nvSpPr>
        <p:spPr>
          <a:xfrm>
            <a:off x="914400" y="1463040"/>
            <a:ext cx="10362895" cy="2011680"/>
          </a:xfrm>
          <a:prstGeom prst="rect">
            <a:avLst/>
          </a:prstGeom>
          <a:noFill/>
        </p:spPr>
        <p:txBody>
          <a:bodyPr wrap="square">
            <a:spAutoFit/>
          </a:bodyPr>
          <a:lstStyle/>
          <a:p>
            <a:pPr>
              <a:defRPr sz="4400" b="1">
                <a:solidFill>
                  <a:srgbClr val="F8FAFC"/>
                </a:solidFill>
              </a:defRPr>
            </a:pPr>
            <a:r>
              <a:t>Factored by Design</a:t>
            </a:r>
          </a:p>
          <a:p>
            <a:pPr>
              <a:defRPr sz="4400" b="1">
                <a:solidFill>
                  <a:srgbClr val="38BDF8"/>
                </a:solidFill>
              </a:defRPr>
            </a:pPr>
            <a:r>
              <a:t>vs. Reacted by Reflex</a:t>
            </a:r>
          </a:p>
          <a:p>
            <a:pPr>
              <a:defRPr sz="1800">
                <a:solidFill>
                  <a:srgbClr val="94A3B8"/>
                </a:solidFill>
              </a:defRPr>
            </a:pPr>
            <a:r>
              <a:t>The Forward Deployed Engineering (FDE) Architecture &amp; Governance Defense</a:t>
            </a:r>
          </a:p>
        </p:txBody>
      </p:sp>
      <p:sp>
        <p:nvSpPr>
          <p:cNvPr id="5" name="Rounded Rectangle 4"/>
          <p:cNvSpPr/>
          <p:nvPr/>
        </p:nvSpPr>
        <p:spPr>
          <a:xfrm>
            <a:off x="914400" y="3840480"/>
            <a:ext cx="32004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defRPr>
            </a:pPr>
            <a:r>
              <a:t>11:00 AM · CISO AUDIT</a:t>
            </a:r>
          </a:p>
          <a:p>
            <a:pPr>
              <a:defRPr sz="1500" b="1">
                <a:solidFill>
                  <a:srgbClr val="F8FAFC"/>
                </a:solidFill>
              </a:defRPr>
            </a:pPr>
            <a:r>
              <a:t>Prompt Injection &amp; EDC Barrier</a:t>
            </a:r>
          </a:p>
          <a:p>
            <a:pPr>
              <a:defRPr sz="1100">
                <a:solidFill>
                  <a:srgbClr val="94A3B8"/>
                </a:solidFill>
              </a:defRPr>
            </a:pPr>
            <a:r>
              <a:t>Decided passive tokenization at 09:15. Document text is passive payload, never executable instructions. Pydantic schema firewall actively drops EDC.</a:t>
            </a:r>
          </a:p>
        </p:txBody>
      </p:sp>
      <p:sp>
        <p:nvSpPr>
          <p:cNvPr id="6" name="Rounded Rectangle 5"/>
          <p:cNvSpPr/>
          <p:nvPr/>
        </p:nvSpPr>
        <p:spPr>
          <a:xfrm>
            <a:off x="4480560" y="3840480"/>
            <a:ext cx="32004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13:00 PM · SPONSOR FOMO</a:t>
            </a:r>
          </a:p>
          <a:p>
            <a:pPr>
              <a:defRPr sz="1500" b="1">
                <a:solidFill>
                  <a:srgbClr val="F8FAFC"/>
                </a:solidFill>
              </a:defRPr>
            </a:pPr>
            <a:r>
              <a:t>Competitor Risk-Scoring Claim</a:t>
            </a:r>
          </a:p>
          <a:p>
            <a:pPr>
              <a:defRPr sz="1100">
                <a:solidFill>
                  <a:srgbClr val="94A3B8"/>
                </a:solidFill>
              </a:defRPr>
            </a:pPr>
            <a:r>
              <a:t>Reframed via ADR-001: Competitor carries an uninspected 21 CFR Part 11 / GxP liability. Our unranked system stays outside the 12-month CSV audit freeze.</a:t>
            </a:r>
          </a:p>
        </p:txBody>
      </p:sp>
      <p:sp>
        <p:nvSpPr>
          <p:cNvPr id="7" name="Rounded Rectangle 6"/>
          <p:cNvSpPr/>
          <p:nvPr/>
        </p:nvSpPr>
        <p:spPr>
          <a:xfrm>
            <a:off x="8046720" y="3840480"/>
            <a:ext cx="32004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43F5E"/>
                </a:solidFill>
              </a:defRPr>
            </a:pPr>
            <a:r>
              <a:t>15:00 PM · VENDOR 500</a:t>
            </a:r>
          </a:p>
          <a:p>
            <a:pPr>
              <a:defRPr sz="1500" b="1">
                <a:solidFill>
                  <a:srgbClr val="F8FAFC"/>
                </a:solidFill>
              </a:defRPr>
            </a:pPr>
            <a:r>
              <a:t>11/20 Outage &amp; Denominators</a:t>
            </a:r>
          </a:p>
          <a:p>
            <a:pPr>
              <a:defRPr sz="1100">
                <a:solidFill>
                  <a:srgbClr val="94A3B8"/>
                </a:solidFill>
              </a:defRPr>
            </a:pPr>
            <a:r>
              <a:t>Overrode 5x retry loop. Enforced mandatory denominator disclosure: '3 of 6 reports - PARTIAL' and statutory warning: Absence of evidence is not evidence of absence.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097280"/>
          </a:xfrm>
          <a:prstGeom prst="rect">
            <a:avLst/>
          </a:prstGeom>
          <a:noFill/>
        </p:spPr>
        <p:txBody>
          <a:bodyPr wrap="none">
            <a:spAutoFit/>
          </a:bodyPr>
          <a:lstStyle/>
          <a:p>
            <a:pPr>
              <a:defRPr sz="1200" b="1">
                <a:solidFill>
                  <a:srgbClr val="10B981"/>
                </a:solidFill>
              </a:defRPr>
            </a:pPr>
            <a:r>
              <a:t>FOUNDATIONAL PARADIGM</a:t>
            </a:r>
          </a:p>
          <a:p>
            <a:pPr>
              <a:defRPr sz="3000" b="1">
                <a:solidFill>
                  <a:srgbClr val="F8FAFC"/>
                </a:solidFill>
              </a:defRPr>
            </a:pPr>
            <a:r>
              <a:t>The Scramble Loop vs. The Absorbing Boundary</a:t>
            </a:r>
          </a:p>
        </p:txBody>
      </p:sp>
      <p:sp>
        <p:nvSpPr>
          <p:cNvPr id="4" name="Rounded Rectangle 3"/>
          <p:cNvSpPr/>
          <p:nvPr/>
        </p:nvSpPr>
        <p:spPr>
          <a:xfrm>
            <a:off x="914400" y="1828800"/>
            <a:ext cx="4937760" cy="4206240"/>
          </a:xfrm>
          <a:prstGeom prst="roundRect">
            <a:avLst/>
          </a:prstGeom>
          <a:solidFill>
            <a:srgbClr val="26141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43F5E"/>
                </a:solidFill>
              </a:defRPr>
            </a:pPr>
            <a:r>
              <a:t>THE JUNIOR REFLEX: REACTIVE PATCHING</a:t>
            </a:r>
          </a:p>
          <a:p>
            <a:pPr>
              <a:defRPr sz="1200">
                <a:solidFill>
                  <a:srgbClr val="94A3B8"/>
                </a:solidFill>
              </a:defRPr>
            </a:pPr>
            <a:r>
              <a:t>✕ Happy Path Assumption: Assumes APIs return 200 OK, clients know what they want, and regulations are ignorable.</a:t>
            </a:r>
          </a:p>
          <a:p>
            <a:pPr>
              <a:defRPr sz="1200">
                <a:solidFill>
                  <a:srgbClr val="94A3B8"/>
                </a:solidFill>
              </a:defRPr>
            </a:pPr>
            <a:r>
              <a:t>✕ Surprise as Interruption: Treats security questions, vendor errors, and sponsor anxieties as rude surprises.</a:t>
            </a:r>
          </a:p>
          <a:p>
            <a:pPr>
              <a:defRPr sz="1200">
                <a:solidFill>
                  <a:srgbClr val="94A3B8"/>
                </a:solidFill>
              </a:defRPr>
            </a:pPr>
            <a:r>
              <a:t>✕ Emergency Scrambling: Patches symptoms at runtime: adds hasty regexes, infinite retry loops, and unvalidated pseudo-scores.</a:t>
            </a:r>
          </a:p>
          <a:p>
            <a:pPr>
              <a:defRPr sz="1200">
                <a:solidFill>
                  <a:srgbClr val="94A3B8"/>
                </a:solidFill>
              </a:defRPr>
            </a:pPr>
            <a:r>
              <a:t>✕ The Cost: Compromises system boundaries, introduces fatal false reassurance, and causes 9-12 month regulatory stalls.</a:t>
            </a:r>
          </a:p>
        </p:txBody>
      </p:sp>
      <p:sp>
        <p:nvSpPr>
          <p:cNvPr id="5" name="Rounded Rectangle 4"/>
          <p:cNvSpPr/>
          <p:nvPr/>
        </p:nvSpPr>
        <p:spPr>
          <a:xfrm>
            <a:off x="6309360" y="1828800"/>
            <a:ext cx="4937760" cy="4206240"/>
          </a:xfrm>
          <a:prstGeom prst="roundRect">
            <a:avLst/>
          </a:prstGeom>
          <a:solidFill>
            <a:srgbClr val="0F2723"/>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THE FDE DISCIPLINE: ANTICIPATORY ARCHITECTURE</a:t>
            </a:r>
          </a:p>
          <a:p>
            <a:pPr>
              <a:defRPr sz="1200">
                <a:solidFill>
                  <a:srgbClr val="F8FAFC"/>
                </a:solidFill>
              </a:defRPr>
            </a:pPr>
            <a:r>
              <a:t>✓ Hostile Reality by Design: Assumes from 09:15 that external vendors will fail, regulations bite, and clients experience FOMO.</a:t>
            </a:r>
          </a:p>
          <a:p>
            <a:pPr>
              <a:defRPr sz="1200">
                <a:solidFill>
                  <a:srgbClr val="F8FAFC"/>
                </a:solidFill>
              </a:defRPr>
            </a:pPr>
            <a:r>
              <a:t>✓ Scope Discipline as Shield: Spent the first 45 minutes locking what NOT to build (no predictive scores, no patient PHI).</a:t>
            </a:r>
          </a:p>
          <a:p>
            <a:pPr>
              <a:defRPr sz="1200">
                <a:solidFill>
                  <a:srgbClr val="F8FAFC"/>
                </a:solidFill>
              </a:defRPr>
            </a:pPr>
            <a:r>
              <a:t>✓ Pre-Compiled Shock Absorbers: Pydantic schema firewalls, decoupled graph stages, and explicit metadata contracts.</a:t>
            </a:r>
          </a:p>
          <a:p>
            <a:pPr>
              <a:defRPr sz="1200">
                <a:solidFill>
                  <a:srgbClr val="F8FAFC"/>
                </a:solidFill>
              </a:defRPr>
            </a:pPr>
            <a:r>
              <a:t>✓ Empirical Git Audit Trail: Every treated risk in risk-register.md is tied to a passing test. Empty intentions score zero.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097280"/>
          </a:xfrm>
          <a:prstGeom prst="rect">
            <a:avLst/>
          </a:prstGeom>
          <a:noFill/>
        </p:spPr>
        <p:txBody>
          <a:bodyPr wrap="none">
            <a:spAutoFit/>
          </a:bodyPr>
          <a:lstStyle/>
          <a:p>
            <a:pPr>
              <a:defRPr sz="1200" b="1">
                <a:solidFill>
                  <a:srgbClr val="F59E0B"/>
                </a:solidFill>
              </a:defRPr>
            </a:pPr>
            <a:r>
              <a:t>11:00 AM · CISO SECURITY AUDIT</a:t>
            </a:r>
          </a:p>
          <a:p>
            <a:pPr>
              <a:defRPr sz="3000" b="1">
                <a:solidFill>
                  <a:srgbClr val="F8FAFC"/>
                </a:solidFill>
              </a:defRPr>
            </a:pPr>
            <a:r>
              <a:t>Curveball 1: Prompt Injection &amp; Patient EDC Boundary</a:t>
            </a:r>
          </a:p>
        </p:txBody>
      </p:sp>
      <p:sp>
        <p:nvSpPr>
          <p:cNvPr id="4" name="Rounded Rectangle 3"/>
          <p:cNvSpPr/>
          <p:nvPr/>
        </p:nvSpPr>
        <p:spPr>
          <a:xfrm>
            <a:off x="914400" y="1828800"/>
            <a:ext cx="10362895" cy="1005840"/>
          </a:xfrm>
          <a:prstGeom prst="roundRect">
            <a:avLst/>
          </a:prstGeom>
          <a:solidFill>
            <a:srgbClr val="2D231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CISO AUDIT INQUIRY (DUE 14:00):</a:t>
            </a:r>
          </a:p>
          <a:p>
            <a:pPr>
              <a:defRPr sz="1400">
                <a:solidFill>
                  <a:srgbClr val="F8FAFC"/>
                </a:solidFill>
              </a:defRPr>
            </a:pPr>
            <a:r>
              <a:t>"Hospital reports are authored by third-party monitors. What stops prompt injection? And prove you are not ingesting Electronic Data Capture (EDC) patient records."</a:t>
            </a:r>
          </a:p>
        </p:txBody>
      </p:sp>
      <p:sp>
        <p:nvSpPr>
          <p:cNvPr id="5" name="Rounded Rectangle 4"/>
          <p:cNvSpPr/>
          <p:nvPr/>
        </p:nvSpPr>
        <p:spPr>
          <a:xfrm>
            <a:off x="914400" y="3108960"/>
            <a:ext cx="502920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1. Passive Tokenization (Prompt Injection Defense)</a:t>
            </a:r>
          </a:p>
          <a:p>
            <a:pPr>
              <a:defRPr sz="1200">
                <a:solidFill>
                  <a:srgbClr val="94A3B8"/>
                </a:solidFill>
              </a:defRPr>
            </a:pPr>
            <a:r>
              <a:t>• We never embed raw document text into executable LLM instructions.</a:t>
            </a:r>
            <a:br/>
            <a:r>
              <a:t>• Candidate sentences are tokenized as purely passive string data stored in immutable SourceCitation objects.</a:t>
            </a:r>
            <a:br/>
            <a:r>
              <a:t>• You cannot execute prompt injections on a system that does not interpret input documents as instructions.</a:t>
            </a:r>
            <a:br/>
            <a:r>
              <a:t>• Documented in threat-model.md under ISO 42001 A.8.</a:t>
            </a:r>
          </a:p>
        </p:txBody>
      </p:sp>
      <p:sp>
        <p:nvSpPr>
          <p:cNvPr id="6" name="Rounded Rectangle 5"/>
          <p:cNvSpPr/>
          <p:nvPr/>
        </p:nvSpPr>
        <p:spPr>
          <a:xfrm>
            <a:off x="6217920" y="3108960"/>
            <a:ext cx="502920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2. Code-Level Schema Barrier (EDC Privacy Defense)</a:t>
            </a:r>
          </a:p>
          <a:p>
            <a:pPr>
              <a:defRPr sz="1200">
                <a:solidFill>
                  <a:srgbClr val="94A3B8"/>
                </a:solidFill>
              </a:defRPr>
            </a:pPr>
            <a:r>
              <a:t>• Pydantic models in src/models.py actively validate input keys and raise ValidationError if patient fields (subject_id, edc_id, lab_values) appear.</a:t>
            </a:r>
            <a:br/>
            <a:r>
              <a:t>• Restricted payloads are dropped before processing.</a:t>
            </a:r>
            <a:br/>
            <a:r>
              <a:t>• Empirical Proof: tests/test_controls.py::test_edc_boundary_enforced passes in CI.</a:t>
            </a:r>
            <a:br/>
            <a:r>
              <a:t>• Mapped to ISO 42001 A.7 in risk-register.md (R-07).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097280"/>
          </a:xfrm>
          <a:prstGeom prst="rect">
            <a:avLst/>
          </a:prstGeom>
          <a:noFill/>
        </p:spPr>
        <p:txBody>
          <a:bodyPr wrap="none">
            <a:spAutoFit/>
          </a:bodyPr>
          <a:lstStyle/>
          <a:p>
            <a:pPr>
              <a:defRPr sz="1200" b="1">
                <a:solidFill>
                  <a:srgbClr val="38BDF8"/>
                </a:solidFill>
              </a:defRPr>
            </a:pPr>
            <a:r>
              <a:t>13:00 PM · SCOPE &amp; REGULATORY DEFENSE</a:t>
            </a:r>
          </a:p>
          <a:p>
            <a:pPr>
              <a:defRPr sz="3000" b="1">
                <a:solidFill>
                  <a:srgbClr val="F8FAFC"/>
                </a:solidFill>
              </a:defRPr>
            </a:pPr>
            <a:r>
              <a:t>Curveball 2: Sponsor FOMO &amp; Defending the GxP Boundary</a:t>
            </a:r>
          </a:p>
        </p:txBody>
      </p:sp>
      <p:sp>
        <p:nvSpPr>
          <p:cNvPr id="4" name="Rounded Rectangle 3"/>
          <p:cNvSpPr/>
          <p:nvPr/>
        </p:nvSpPr>
        <p:spPr>
          <a:xfrm>
            <a:off x="914400" y="1828800"/>
            <a:ext cx="10362895" cy="1005840"/>
          </a:xfrm>
          <a:prstGeom prst="roundRect">
            <a:avLst/>
          </a:prstGeom>
          <a:solidFill>
            <a:srgbClr val="19233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BDF8"/>
                </a:solidFill>
              </a:defRPr>
            </a:pPr>
            <a:r>
              <a:t>SPONSOR CHALLENGE (13:00):</a:t>
            </a:r>
          </a:p>
          <a:p>
            <a:pPr>
              <a:defRPr sz="1400">
                <a:solidFill>
                  <a:srgbClr val="F8FAFC"/>
                </a:solidFill>
              </a:defRPr>
            </a:pPr>
            <a:r>
              <a:t>"A competitor at a conference claims they have an AI predictive risk-scoring model running across their hospitals for 8 months! Why are you giving me less?"</a:t>
            </a:r>
          </a:p>
        </p:txBody>
      </p:sp>
      <p:sp>
        <p:nvSpPr>
          <p:cNvPr id="5" name="Rounded Rectangle 4"/>
          <p:cNvSpPr/>
          <p:nvPr/>
        </p:nvSpPr>
        <p:spPr>
          <a:xfrm>
            <a:off x="914400" y="3108960"/>
            <a:ext cx="10362895" cy="1280160"/>
          </a:xfrm>
          <a:prstGeom prst="roundRect">
            <a:avLst/>
          </a:prstGeom>
          <a:solidFill>
            <a:srgbClr val="141E2D"/>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defRPr>
            </a:pPr>
            <a:r>
              <a:t>THE LEVEL 5 FDE REFRAME (DELIVERED TO SPONSOR):</a:t>
            </a:r>
          </a:p>
          <a:p>
            <a:pPr>
              <a:defRPr sz="1300">
                <a:solidFill>
                  <a:srgbClr val="F8FAFC"/>
                </a:solidFill>
              </a:defRPr>
            </a:pPr>
            <a:r>
              <a:t>"The competitor hasn't beaten us; they are sitting on an uninspected regulatory time bomb. In clinical trials, an automated risk score triggers 21 CFR Part 11 / GxP Computerized System Validation (CSV), requiring 9 to 12 months of legal audits. If an FDA inspector asks how a site was chosen and they show an unvalidated AI score, it triggers an immediate Form 483 violation. We built an inspection-ready reading assistant that can be deployed today."</a:t>
            </a:r>
          </a:p>
        </p:txBody>
      </p:sp>
      <p:sp>
        <p:nvSpPr>
          <p:cNvPr id="6" name="Rounded Rectangle 5"/>
          <p:cNvSpPr/>
          <p:nvPr/>
        </p:nvSpPr>
        <p:spPr>
          <a:xfrm>
            <a:off x="914400" y="4663440"/>
            <a:ext cx="50292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Locked at 09:15 via ADR-001</a:t>
            </a:r>
          </a:p>
          <a:p>
            <a:pPr>
              <a:defRPr sz="1100">
                <a:solidFill>
                  <a:srgbClr val="94A3B8"/>
                </a:solidFill>
              </a:defRPr>
            </a:pPr>
            <a:r>
              <a:t>We anticipated this exact regulatory trap before writing code. 'Surfacing, Not Predicting' was our founding charter.</a:t>
            </a:r>
          </a:p>
        </p:txBody>
      </p:sp>
      <p:sp>
        <p:nvSpPr>
          <p:cNvPr id="7" name="Rounded Rectangle 6"/>
          <p:cNvSpPr/>
          <p:nvPr/>
        </p:nvSpPr>
        <p:spPr>
          <a:xfrm>
            <a:off x="6217920" y="4663440"/>
            <a:ext cx="50292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Zero-Score Code Contract</a:t>
            </a:r>
          </a:p>
          <a:p>
            <a:pPr>
              <a:defRPr sz="1100">
                <a:solidFill>
                  <a:srgbClr val="94A3B8"/>
                </a:solidFill>
              </a:defRPr>
            </a:pPr>
            <a:r>
              <a:t>test_zero_scoring_or_ranking asserts no numeric scores, tiers, or priority fields exist. Governed by risk R-01 in risk-register.md.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097280"/>
          </a:xfrm>
          <a:prstGeom prst="rect">
            <a:avLst/>
          </a:prstGeom>
          <a:noFill/>
        </p:spPr>
        <p:txBody>
          <a:bodyPr wrap="none">
            <a:spAutoFit/>
          </a:bodyPr>
          <a:lstStyle/>
          <a:p>
            <a:pPr>
              <a:defRPr sz="1200" b="1">
                <a:solidFill>
                  <a:srgbClr val="F43F5E"/>
                </a:solidFill>
              </a:defRPr>
            </a:pPr>
            <a:r>
              <a:t>15:00 PM · DROP 3 OF 3 EXTERNAL OUTAGE</a:t>
            </a:r>
          </a:p>
          <a:p>
            <a:pPr>
              <a:defRPr sz="3000" b="1">
                <a:solidFill>
                  <a:srgbClr val="F8FAFC"/>
                </a:solidFill>
              </a:defRPr>
            </a:pPr>
            <a:r>
              <a:t>Curveball 3: eTMF 500 Outage &amp; Denominator Honesty</a:t>
            </a:r>
          </a:p>
        </p:txBody>
      </p:sp>
      <p:sp>
        <p:nvSpPr>
          <p:cNvPr id="4" name="Rounded Rectangle 3"/>
          <p:cNvSpPr/>
          <p:nvPr/>
        </p:nvSpPr>
        <p:spPr>
          <a:xfrm>
            <a:off x="914400" y="1828800"/>
            <a:ext cx="10362895" cy="1188720"/>
          </a:xfrm>
          <a:prstGeom prst="roundRect">
            <a:avLst/>
          </a:prstGeom>
          <a:solidFill>
            <a:srgbClr val="2D1419"/>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43F5E"/>
                </a:solidFill>
              </a:defRPr>
            </a:pPr>
            <a:r>
              <a:t>WHERE THIS BITES (DROP 3 PROMPT):</a:t>
            </a:r>
          </a:p>
          <a:p>
            <a:pPr>
              <a:defRPr sz="1400">
                <a:solidFill>
                  <a:srgbClr val="F8FAFC"/>
                </a:solidFill>
              </a:defRPr>
            </a:pPr>
            <a:r>
              <a:t>"A grouping view built on 11 of 20 reports looks identical to one built on 20. A clinical reviewer would draw conclusions from the gaps. 'Three visits mention this' is a different statement when you could only read half the visits."</a:t>
            </a:r>
          </a:p>
        </p:txBody>
      </p:sp>
      <p:sp>
        <p:nvSpPr>
          <p:cNvPr id="5" name="Rounded Rectangle 4"/>
          <p:cNvSpPr/>
          <p:nvPr/>
        </p:nvSpPr>
        <p:spPr>
          <a:xfrm>
            <a:off x="914400" y="3291840"/>
            <a:ext cx="3200400" cy="3017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43F5E"/>
                </a:solidFill>
              </a:defRPr>
            </a:pPr>
            <a:r>
              <a:t>1. Rejected Retry Loop</a:t>
            </a:r>
          </a:p>
          <a:p>
            <a:pPr>
              <a:defRPr sz="1200">
                <a:solidFill>
                  <a:srgbClr val="94A3B8"/>
                </a:solidFill>
              </a:defRPr>
            </a:pPr>
            <a:r>
              <a:t>AI proposed a 5x retry loop. We overrode it in the review log.</a:t>
            </a:r>
            <a:br/>
            <a:br/>
            <a:r>
              <a:t>A retry loop freezes CRA workflows and masks the outage. When an outage is regional, retries will never fix it. Defensible systems degrade gracefully.</a:t>
            </a:r>
          </a:p>
        </p:txBody>
      </p:sp>
      <p:sp>
        <p:nvSpPr>
          <p:cNvPr id="6" name="Rounded Rectangle 5"/>
          <p:cNvSpPr/>
          <p:nvPr/>
        </p:nvSpPr>
        <p:spPr>
          <a:xfrm>
            <a:off x="4480560" y="3291840"/>
            <a:ext cx="3200400" cy="3017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2. Statutory Warning</a:t>
            </a:r>
          </a:p>
          <a:p>
            <a:pPr>
              <a:defRPr sz="1200">
                <a:solidFill>
                  <a:srgbClr val="94A3B8"/>
                </a:solidFill>
              </a:defRPr>
            </a:pPr>
            <a:r>
              <a:t>Review packet forces an unavoidable amber warning:</a:t>
            </a:r>
            <a:br/>
            <a:br/>
            <a:r>
              <a:t>'ABSENCE OF EVIDENCE IS NOT EVIDENCE OF ABSENCE: Conclusions regarding clean site conduct cannot be drawn for unretrieved visits.'</a:t>
            </a:r>
          </a:p>
        </p:txBody>
      </p:sp>
      <p:sp>
        <p:nvSpPr>
          <p:cNvPr id="7" name="Rounded Rectangle 6"/>
          <p:cNvSpPr/>
          <p:nvPr/>
        </p:nvSpPr>
        <p:spPr>
          <a:xfrm>
            <a:off x="8046720" y="3291840"/>
            <a:ext cx="3200400" cy="3017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3. Denominator Disclosure</a:t>
            </a:r>
          </a:p>
          <a:p>
            <a:pPr>
              <a:defRPr sz="1200">
                <a:solidFill>
                  <a:srgbClr val="94A3B8"/>
                </a:solidFill>
              </a:defRPr>
            </a:pPr>
            <a:r>
              <a:t>Displays exact coverage denominators across all headers:</a:t>
            </a:r>
            <a:br/>
            <a:br/>
            <a:r>
              <a:t>• Packet: 11 of 20 reports</a:t>
            </a:r>
            <a:br/>
            <a:r>
              <a:t>• Site 101: 3 of 6 reports - PARTIAL</a:t>
            </a:r>
            <a:br/>
            <a:br/>
            <a:r>
              <a:t>Verified by test_partial_etmf_outage_coverage_disclosure under R-04.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097280"/>
          </a:xfrm>
          <a:prstGeom prst="rect">
            <a:avLst/>
          </a:prstGeom>
          <a:noFill/>
        </p:spPr>
        <p:txBody>
          <a:bodyPr wrap="none">
            <a:spAutoFit/>
          </a:bodyPr>
          <a:lstStyle/>
          <a:p>
            <a:pPr>
              <a:defRPr sz="1200" b="1">
                <a:solidFill>
                  <a:srgbClr val="38BDF8"/>
                </a:solidFill>
              </a:defRPr>
            </a:pPr>
            <a:r>
              <a:t>SYSTEM ARCHITECTURE</a:t>
            </a:r>
          </a:p>
          <a:p>
            <a:pPr>
              <a:defRPr sz="3000" b="1">
                <a:solidFill>
                  <a:srgbClr val="F8FAFC"/>
                </a:solidFill>
              </a:defRPr>
            </a:pPr>
            <a:r>
              <a:t>The 3 Pre-Existing Shock Absorbers</a:t>
            </a:r>
          </a:p>
        </p:txBody>
      </p:sp>
      <p:sp>
        <p:nvSpPr>
          <p:cNvPr id="4" name="Rounded Rectangle 3"/>
          <p:cNvSpPr/>
          <p:nvPr/>
        </p:nvSpPr>
        <p:spPr>
          <a:xfrm>
            <a:off x="914400" y="2011680"/>
            <a:ext cx="320040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0B981"/>
                </a:solidFill>
              </a:defRPr>
            </a:pPr>
            <a:r>
              <a:t>01</a:t>
            </a:r>
          </a:p>
          <a:p>
            <a:pPr>
              <a:defRPr sz="1800" b="1">
                <a:solidFill>
                  <a:srgbClr val="F8FAFC"/>
                </a:solidFill>
              </a:defRPr>
            </a:pPr>
            <a:r>
              <a:t>Schema Firewalls</a:t>
            </a:r>
          </a:p>
          <a:p>
            <a:pPr>
              <a:defRPr sz="1200">
                <a:solidFill>
                  <a:srgbClr val="94A3B8"/>
                </a:solidFill>
              </a:defRPr>
            </a:pPr>
            <a:r>
              <a:t>• Pydantic models at boundaries enforce immutable field types.</a:t>
            </a:r>
            <a:br/>
            <a:r>
              <a:t>• Prohibits risk scores and priority tiers.</a:t>
            </a:r>
            <a:br/>
            <a:r>
              <a:t>• Actively rejects EDC patient identifiers.</a:t>
            </a:r>
            <a:br/>
            <a:r>
              <a:t>• Requires document_id, page_number, and verbatim_sentence on every observation.</a:t>
            </a:r>
            <a:br/>
            <a:br/>
            <a:r>
              <a:t>Evidence: src/models.py</a:t>
            </a:r>
          </a:p>
        </p:txBody>
      </p:sp>
      <p:sp>
        <p:nvSpPr>
          <p:cNvPr id="5" name="Rounded Rectangle 4"/>
          <p:cNvSpPr/>
          <p:nvPr/>
        </p:nvSpPr>
        <p:spPr>
          <a:xfrm>
            <a:off x="4480560" y="2011680"/>
            <a:ext cx="320040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8BDF8"/>
                </a:solidFill>
              </a:defRPr>
            </a:pPr>
            <a:r>
              <a:t>02</a:t>
            </a:r>
          </a:p>
          <a:p>
            <a:pPr>
              <a:defRPr sz="1800" b="1">
                <a:solidFill>
                  <a:srgbClr val="F8FAFC"/>
                </a:solidFill>
              </a:defRPr>
            </a:pPr>
            <a:r>
              <a:t>State Graph Pipeline</a:t>
            </a:r>
          </a:p>
          <a:p>
            <a:pPr>
              <a:defRPr sz="1200">
                <a:solidFill>
                  <a:srgbClr val="94A3B8"/>
                </a:solidFill>
              </a:defRPr>
            </a:pPr>
            <a:r>
              <a:t>• Decoupled pipeline stages allow isolated failure containment.</a:t>
            </a:r>
            <a:br/>
            <a:r>
              <a:t>• Regional gate drops Site 404 before parsing.</a:t>
            </a:r>
            <a:br/>
            <a:r>
              <a:t>• Extraction runs deterministically.</a:t>
            </a:r>
            <a:br/>
            <a:r>
              <a:t>• Degradation handler outputs stateful operational metadata (reports_expected, reports_retrieved).</a:t>
            </a:r>
            <a:br/>
            <a:br/>
            <a:r>
              <a:t>Evidence: src/pipeline/triage_graph.py</a:t>
            </a:r>
          </a:p>
        </p:txBody>
      </p:sp>
      <p:sp>
        <p:nvSpPr>
          <p:cNvPr id="6" name="Rounded Rectangle 5"/>
          <p:cNvSpPr/>
          <p:nvPr/>
        </p:nvSpPr>
        <p:spPr>
          <a:xfrm>
            <a:off x="8046720" y="2011680"/>
            <a:ext cx="320040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A855F7"/>
                </a:solidFill>
              </a:defRPr>
            </a:pPr>
            <a:r>
              <a:t>03</a:t>
            </a:r>
          </a:p>
          <a:p>
            <a:pPr>
              <a:defRPr sz="1800" b="1">
                <a:solidFill>
                  <a:srgbClr val="F8FAFC"/>
                </a:solidFill>
              </a:defRPr>
            </a:pPr>
            <a:r>
              <a:t>Empirical Risk Register</a:t>
            </a:r>
          </a:p>
          <a:p>
            <a:pPr>
              <a:defRPr sz="1200">
                <a:solidFill>
                  <a:srgbClr val="94A3B8"/>
                </a:solidFill>
              </a:defRPr>
            </a:pPr>
            <a:r>
              <a:t>• Every risk in risk-register.md is tied to a real test in /tests.</a:t>
            </a:r>
            <a:br/>
            <a:r>
              <a:t>• Status 'Treated' is forbidden without code evidence.</a:t>
            </a:r>
            <a:br/>
            <a:r>
              <a:t>• 9 automated tests passing in CI.</a:t>
            </a:r>
            <a:br/>
            <a:r>
              <a:t>• ISO 42001 objectives (A.2 - A.10) verified by test assertions.</a:t>
            </a:r>
            <a:br/>
            <a:br/>
            <a:r>
              <a:t>Evidence: docs/governance/risk-register.md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097280"/>
          </a:xfrm>
          <a:prstGeom prst="rect">
            <a:avLst/>
          </a:prstGeom>
          <a:noFill/>
        </p:spPr>
        <p:txBody>
          <a:bodyPr wrap="none">
            <a:spAutoFit/>
          </a:bodyPr>
          <a:lstStyle/>
          <a:p>
            <a:pPr>
              <a:defRPr sz="1200" b="1">
                <a:solidFill>
                  <a:srgbClr val="10B981"/>
                </a:solidFill>
              </a:defRPr>
            </a:pPr>
            <a:r>
              <a:t>RETROSPECTIVE &amp; WISDOM</a:t>
            </a:r>
          </a:p>
          <a:p>
            <a:pPr>
              <a:defRPr sz="3000" b="1">
                <a:solidFill>
                  <a:srgbClr val="F8FAFC"/>
                </a:solidFill>
              </a:defRPr>
            </a:pPr>
            <a:r>
              <a:t>The 3 Enduring FDE Lessons</a:t>
            </a:r>
          </a:p>
        </p:txBody>
      </p:sp>
      <p:sp>
        <p:nvSpPr>
          <p:cNvPr id="4" name="Rounded Rectangle 3"/>
          <p:cNvSpPr/>
          <p:nvPr/>
        </p:nvSpPr>
        <p:spPr>
          <a:xfrm>
            <a:off x="914400" y="2011680"/>
            <a:ext cx="10362895"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1. BOUNDARIES OVER FEATURES</a:t>
            </a:r>
          </a:p>
          <a:p>
            <a:pPr>
              <a:defRPr sz="1200">
                <a:solidFill>
                  <a:srgbClr val="94A3B8"/>
                </a:solidFill>
              </a:defRPr>
            </a:pPr>
            <a:r>
              <a:t>The quality of enterprise AI is defined not by what it hallucinates or generates, but by what its perimeter actively refuses to ingest or output. We rejected predictive scores, patient PHI, and unverified sovereign regions before reading a single report.</a:t>
            </a:r>
          </a:p>
        </p:txBody>
      </p:sp>
      <p:sp>
        <p:nvSpPr>
          <p:cNvPr id="5" name="Rounded Rectangle 4"/>
          <p:cNvSpPr/>
          <p:nvPr/>
        </p:nvSpPr>
        <p:spPr>
          <a:xfrm>
            <a:off x="914400" y="3383280"/>
            <a:ext cx="10362895"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2. REJECTION OVER ACCRETION</a:t>
            </a:r>
          </a:p>
          <a:p>
            <a:pPr>
              <a:defRPr sz="1200">
                <a:solidFill>
                  <a:srgbClr val="94A3B8"/>
                </a:solidFill>
              </a:defRPr>
            </a:pPr>
            <a:r>
              <a:t>When a stakeholder panics or a competitor boasts, junior engineers add features; FDEs reinforce guardrails. Saying 'No' to risk scores saved Caldera 9–12 months of GxP validation delay.</a:t>
            </a:r>
          </a:p>
        </p:txBody>
      </p:sp>
      <p:sp>
        <p:nvSpPr>
          <p:cNvPr id="6" name="Rounded Rectangle 5"/>
          <p:cNvSpPr/>
          <p:nvPr/>
        </p:nvSpPr>
        <p:spPr>
          <a:xfrm>
            <a:off x="914400" y="4754880"/>
            <a:ext cx="10362895"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3. DENOMINATOR HONESTY</a:t>
            </a:r>
          </a:p>
          <a:p>
            <a:pPr>
              <a:defRPr sz="1200">
                <a:solidFill>
                  <a:srgbClr val="94A3B8"/>
                </a:solidFill>
              </a:defRPr>
            </a:pPr>
            <a:r>
              <a:t>In clinical trials, partial data that looks complete is deadlier than a total crash. Defensible degradation requires surfacing the denominator so human monitors never draw false reassurance from missing visits.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097280"/>
          </a:xfrm>
          <a:prstGeom prst="rect">
            <a:avLst/>
          </a:prstGeom>
          <a:noFill/>
        </p:spPr>
        <p:txBody>
          <a:bodyPr wrap="none">
            <a:spAutoFit/>
          </a:bodyPr>
          <a:lstStyle/>
          <a:p>
            <a:pPr>
              <a:defRPr sz="1200" b="1">
                <a:solidFill>
                  <a:srgbClr val="A855F7"/>
                </a:solidFill>
              </a:defRPr>
            </a:pPr>
            <a:r>
              <a:t>TRAINER EVALUATION MATRIX</a:t>
            </a:r>
          </a:p>
          <a:p>
            <a:pPr>
              <a:defRPr sz="3000" b="1">
                <a:solidFill>
                  <a:srgbClr val="F8FAFC"/>
                </a:solidFill>
              </a:defRPr>
            </a:pPr>
            <a:r>
              <a:t>Trainer Defense Cheat Sheet</a:t>
            </a:r>
          </a:p>
        </p:txBody>
      </p:sp>
      <p:sp>
        <p:nvSpPr>
          <p:cNvPr id="4" name="Rounded Rectangle 3"/>
          <p:cNvSpPr/>
          <p:nvPr/>
        </p:nvSpPr>
        <p:spPr>
          <a:xfrm>
            <a:off x="914400" y="1920240"/>
            <a:ext cx="10362895"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Trainer: "Did you anticipate the 15:00 API failure or react to it?"</a:t>
            </a:r>
          </a:p>
          <a:p>
            <a:pPr>
              <a:defRPr sz="1100">
                <a:solidFill>
                  <a:srgbClr val="F8FAFC"/>
                </a:solidFill>
              </a:defRPr>
            </a:pPr>
            <a:r>
              <a:t>Your Answer: "We anticipated it in our data model and pipeline architecture. At 09:15 we established that external vendor APIs fail. Our schema had reports_expected and reports_retrieved from day one. When Drop 3 hit, we proved the partial state with test_partial_etmf_outage_coverage_disclosure."</a:t>
            </a:r>
          </a:p>
        </p:txBody>
      </p:sp>
      <p:sp>
        <p:nvSpPr>
          <p:cNvPr id="5" name="Rounded Rectangle 4"/>
          <p:cNvSpPr/>
          <p:nvPr/>
        </p:nvSpPr>
        <p:spPr>
          <a:xfrm>
            <a:off x="914400" y="3108960"/>
            <a:ext cx="10362895"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43F5E"/>
                </a:solidFill>
              </a:defRPr>
            </a:pPr>
            <a:r>
              <a:t>Trainer: "Why not just retry the 500 error 5 times with backoff?"</a:t>
            </a:r>
          </a:p>
          <a:p>
            <a:pPr>
              <a:defRPr sz="1100">
                <a:solidFill>
                  <a:srgbClr val="F8FAFC"/>
                </a:solidFill>
              </a:defRPr>
            </a:pPr>
            <a:r>
              <a:t>Your Answer: "Because a retry loop freezes CRA workflows and masks the outage. When an outage is regional, retries won't fix it. The correct FDE design is graceful degradation with mandatory denominator disclosure so reviewers know exactly which visits are missing."</a:t>
            </a:r>
          </a:p>
        </p:txBody>
      </p:sp>
      <p:sp>
        <p:nvSpPr>
          <p:cNvPr id="6" name="Rounded Rectangle 5"/>
          <p:cNvSpPr/>
          <p:nvPr/>
        </p:nvSpPr>
        <p:spPr>
          <a:xfrm>
            <a:off x="914400" y="4297680"/>
            <a:ext cx="10362895"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BDF8"/>
                </a:solidFill>
              </a:defRPr>
            </a:pPr>
            <a:r>
              <a:t>Trainer: "How did your design prevent prompt injection without an LLM guardrail?"</a:t>
            </a:r>
          </a:p>
          <a:p>
            <a:pPr>
              <a:defRPr sz="1100">
                <a:solidFill>
                  <a:srgbClr val="F8FAFC"/>
                </a:solidFill>
              </a:defRPr>
            </a:pPr>
            <a:r>
              <a:t>Your Answer: "By architectural choice: deterministic tokenization and passive extraction. The document text is strictly passive payload data inside a Pydantic object, never embedded into an executable prompt instruction. You cannot inject instructions into an engine that doesn't execute text as instructions."</a:t>
            </a:r>
          </a:p>
        </p:txBody>
      </p:sp>
      <p:sp>
        <p:nvSpPr>
          <p:cNvPr id="7" name="Rounded Rectangle 6"/>
          <p:cNvSpPr/>
          <p:nvPr/>
        </p:nvSpPr>
        <p:spPr>
          <a:xfrm>
            <a:off x="914400" y="5486400"/>
            <a:ext cx="10362895" cy="5486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defRPr>
            </a:pPr>
            <a:r>
              <a:t>ALL 9 TESTS PASSING IN CI · REPOSITORY: 86sunbot/caldera-monitoring-triage · STATUS: INSPECTION 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